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40" y="72"/>
      </p:cViewPr>
      <p:guideLst>
        <p:guide orient="horz" pos="2160"/>
        <p:guide pos="38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u="none" strike="noStrike" kern="1200" cap="none" spc="-200" normalizeH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u="none" strike="noStrike" kern="1200" cap="none" spc="-200" normalizeH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u="none" strike="noStrike" kern="1200" cap="none" spc="-200" normalizeH="0"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 u="none" strike="noStrike" kern="1200" cap="none" spc="-200" normalizeH="0"/>
            </a:lvl1pPr>
            <a:lvl2pPr>
              <a:defRPr u="none" strike="noStrike" kern="1200" cap="none" spc="-200" normalizeH="0"/>
            </a:lvl2pPr>
            <a:lvl3pPr>
              <a:defRPr u="none" strike="noStrike" kern="1200" cap="none" spc="-200" normalizeH="0"/>
            </a:lvl3pPr>
            <a:lvl4pPr>
              <a:defRPr u="none" strike="noStrike" kern="1200" cap="none" spc="-200" normalizeH="0"/>
            </a:lvl4pPr>
            <a:lvl5pPr>
              <a:defRPr u="none" strike="noStrike" kern="1200" cap="none" spc="-200" normalizeH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u="none" strike="noStrike" kern="1200" cap="none" spc="-200" normalizeH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 u="none" strike="noStrike" kern="1200" cap="none" spc="-200" normalizeH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-200" normalizeH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u="none" strike="noStrike" kern="1200" cap="none" spc="-200" normalizeH="0" baseline="0">
                <a:solidFill>
                  <a:schemeClr val="tx1">
                    <a:tint val="75000"/>
                  </a:schemeClr>
                </a:solidFill>
                <a:latin typeface="Fd835351-Identity-H" charset="0"/>
                <a:ea typeface="宋体" panose="02010600030101010101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u="none" strike="noStrike" kern="1200" cap="none" spc="-200" normalizeH="0" baseline="0">
                <a:solidFill>
                  <a:schemeClr val="tx1">
                    <a:tint val="75000"/>
                  </a:schemeClr>
                </a:solidFill>
                <a:latin typeface="Fd835351-Identity-H" charset="0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u="none" strike="noStrike" kern="1200" cap="none" spc="-200" normalizeH="0" baseline="0">
                <a:solidFill>
                  <a:schemeClr val="tx1">
                    <a:tint val="75000"/>
                  </a:schemeClr>
                </a:solidFill>
                <a:latin typeface="Fd835351-Identity-H" charset="0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-200" normalizeH="0" baseline="0">
          <a:solidFill>
            <a:schemeClr val="tx1">
              <a:lumMod val="85000"/>
              <a:lumOff val="15000"/>
            </a:schemeClr>
          </a:solidFill>
          <a:uFillTx/>
          <a:latin typeface="Fd835351-Identity-H" charset="0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-200" normalizeH="0" baseline="0">
          <a:solidFill>
            <a:schemeClr val="tx1">
              <a:lumMod val="65000"/>
              <a:lumOff val="35000"/>
            </a:schemeClr>
          </a:solidFill>
          <a:uFillTx/>
          <a:latin typeface="Fd835351-Identity-H" charset="0"/>
          <a:ea typeface="宋体" panose="02010600030101010101" pitchFamily="2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-200" normalizeH="0" baseline="0">
          <a:solidFill>
            <a:schemeClr val="tx1">
              <a:lumMod val="65000"/>
              <a:lumOff val="35000"/>
            </a:schemeClr>
          </a:solidFill>
          <a:uFillTx/>
          <a:latin typeface="Fd835351-Identity-H" charset="0"/>
          <a:ea typeface="宋体" panose="02010600030101010101" pitchFamily="2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-200" normalizeH="0" baseline="0">
          <a:solidFill>
            <a:schemeClr val="tx1">
              <a:lumMod val="65000"/>
              <a:lumOff val="35000"/>
            </a:schemeClr>
          </a:solidFill>
          <a:uFillTx/>
          <a:latin typeface="Fd835351-Identity-H" charset="0"/>
          <a:ea typeface="宋体" panose="02010600030101010101" pitchFamily="2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-200" normalizeH="0" baseline="0">
          <a:solidFill>
            <a:schemeClr val="tx1">
              <a:lumMod val="65000"/>
              <a:lumOff val="35000"/>
            </a:schemeClr>
          </a:solidFill>
          <a:uFillTx/>
          <a:latin typeface="Fd835351-Identity-H" charset="0"/>
          <a:ea typeface="宋体" panose="02010600030101010101" pitchFamily="2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-200" normalizeH="0" baseline="0">
          <a:solidFill>
            <a:schemeClr val="tx1">
              <a:lumMod val="65000"/>
              <a:lumOff val="35000"/>
            </a:schemeClr>
          </a:solidFill>
          <a:uFillTx/>
          <a:latin typeface="Fd835351-Identity-H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9910" y="3771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第五章</a:t>
            </a:r>
            <a:r>
              <a:rPr lang="en-US" altLang="zh-CN" dirty="0"/>
              <a:t>,</a:t>
            </a:r>
            <a:r>
              <a:rPr lang="en-US" altLang="zh-CN" dirty="0" err="1"/>
              <a:t>banach</a:t>
            </a:r>
            <a:r>
              <a:rPr lang="zh-CN" altLang="en-US" dirty="0"/>
              <a:t>空间的</a:t>
            </a:r>
            <a:r>
              <a:rPr lang="en-US" altLang="zh-CN" dirty="0"/>
              <a:t>technique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265" y="875030"/>
            <a:ext cx="5387975" cy="19970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01105" y="1744345"/>
            <a:ext cx="318198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banach</a:t>
            </a:r>
            <a:r>
              <a:rPr lang="zh-CN" altLang="en-US"/>
              <a:t>空间提出来的原因</a:t>
            </a:r>
            <a:r>
              <a:rPr lang="en-US" altLang="zh-CN"/>
              <a:t>,</a:t>
            </a:r>
            <a:r>
              <a:rPr lang="zh-CN" altLang="en-US"/>
              <a:t>因为正交性其实很难满足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75425" y="875030"/>
            <a:ext cx="3181985" cy="210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前一章的三角级数</a:t>
            </a:r>
            <a:r>
              <a:rPr lang="en-US" altLang="zh-CN"/>
              <a:t>,hilbert</a:t>
            </a:r>
            <a:r>
              <a:rPr lang="zh-CN" altLang="en-US"/>
              <a:t>空间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65" y="3126740"/>
            <a:ext cx="6106160" cy="1473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95440" y="312674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范数的性质</a:t>
            </a:r>
            <a:endParaRPr lang="zh-CN" altLang="en-US" dirty="0"/>
          </a:p>
          <a:p>
            <a:r>
              <a:rPr lang="zh-CN" altLang="en-US" dirty="0"/>
              <a:t>三角</a:t>
            </a:r>
            <a:endParaRPr lang="zh-CN" altLang="en-US" dirty="0"/>
          </a:p>
          <a:p>
            <a:r>
              <a:rPr lang="zh-CN" altLang="en-US" dirty="0"/>
              <a:t>线性</a:t>
            </a:r>
            <a:endParaRPr lang="zh-CN" altLang="en-US" dirty="0"/>
          </a:p>
          <a:p>
            <a:r>
              <a:rPr lang="en-US" altLang="zh-CN" dirty="0"/>
              <a:t>=0</a:t>
            </a: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" y="4854575"/>
            <a:ext cx="6064250" cy="12668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95440" y="51930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有界的</a:t>
            </a:r>
            <a:r>
              <a:rPr lang="en-US" altLang="zh-CN"/>
              <a:t>linear transformation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00" y="255270"/>
            <a:ext cx="6326505" cy="1737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43700" y="33782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Bradley Hand ITC" panose="03070402050302030203" pitchFamily="66" charset="0"/>
                <a:ea typeface="宋体" panose="02010600030101010101" pitchFamily="2" charset="-122"/>
              </a:rPr>
              <a:t>有界</a:t>
            </a:r>
            <a:endParaRPr lang="zh-CN" altLang="en-US">
              <a:latin typeface="Bradley Hand ITC" panose="03070402050302030203" pitchFamily="66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Bradley Hand ITC" panose="03070402050302030203" pitchFamily="66" charset="0"/>
                <a:ea typeface="宋体" panose="02010600030101010101" pitchFamily="2" charset="-122"/>
              </a:rPr>
              <a:t>连续</a:t>
            </a:r>
            <a:endParaRPr lang="zh-CN" altLang="en-US">
              <a:latin typeface="Bradley Hand ITC" panose="03070402050302030203" pitchFamily="66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Bradley Hand ITC" panose="03070402050302030203" pitchFamily="66" charset="0"/>
                <a:ea typeface="宋体" panose="02010600030101010101" pitchFamily="2" charset="-122"/>
              </a:rPr>
              <a:t>在一点连续</a:t>
            </a:r>
            <a:endParaRPr lang="zh-CN" altLang="en-US">
              <a:latin typeface="Bradley Hand ITC" panose="03070402050302030203" pitchFamily="66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Bradley Hand ITC" panose="03070402050302030203" pitchFamily="66" charset="0"/>
                <a:ea typeface="宋体" panose="02010600030101010101" pitchFamily="2" charset="-122"/>
              </a:rPr>
              <a:t>思想</a:t>
            </a:r>
            <a:r>
              <a:rPr lang="en-US" altLang="zh-CN">
                <a:latin typeface="Bradley Hand ITC" panose="03070402050302030203" pitchFamily="66" charset="0"/>
                <a:ea typeface="宋体" panose="02010600030101010101" pitchFamily="2" charset="-122"/>
              </a:rPr>
              <a:t>:</a:t>
            </a:r>
            <a:endParaRPr lang="en-US" altLang="zh-CN">
              <a:latin typeface="Bradley Hand ITC" panose="03070402050302030203" pitchFamily="66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Bradley Hand ITC" panose="03070402050302030203" pitchFamily="66" charset="0"/>
                <a:ea typeface="宋体" panose="02010600030101010101" pitchFamily="2" charset="-122"/>
              </a:rPr>
              <a:t>有界线性算子的连续性被线性限制为一致有界性</a:t>
            </a:r>
            <a:endParaRPr lang="zh-CN" altLang="en-US">
              <a:latin typeface="Bradley Hand ITC" panose="03070402050302030203" pitchFamily="66" charset="0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0860" y="353378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b="1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Consequences of Baire's Theorem </a:t>
            </a:r>
            <a:endParaRPr lang="en-US" altLang="zh-CN" sz="1600" b="1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1740" y="926465"/>
            <a:ext cx="3230880" cy="738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71220" y="990600"/>
            <a:ext cx="36391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000000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three most important theor</a:t>
            </a:r>
            <a:r>
              <a:rPr lang="en-US" altLang="zh-CN" sz="14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ems which make Banach spaces useful tools in analysis</a:t>
            </a:r>
            <a:endParaRPr lang="en-US" altLang="zh-CN" sz="1400" b="1" dirty="0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21175" y="595630"/>
            <a:ext cx="4943475" cy="118491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16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 </a:t>
            </a:r>
            <a:endParaRPr lang="en-US" altLang="zh-CN" sz="1600" b="1" dirty="0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the </a:t>
            </a:r>
            <a:r>
              <a:rPr lang="en-US" altLang="zh-CN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Banach-Steinhaus theorem </a:t>
            </a:r>
            <a:endParaRPr lang="en-US" altLang="zh-CN" sz="1400" b="1" dirty="0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 the </a:t>
            </a:r>
            <a:r>
              <a:rPr lang="en-US" altLang="zh-CN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open mapping theorem. </a:t>
            </a:r>
            <a:endParaRPr lang="en-US" altLang="zh-CN" sz="1400" b="1" dirty="0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 the </a:t>
            </a:r>
            <a:r>
              <a:rPr lang="en-US" altLang="zh-CN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Hahn-Banach extension theorem,</a:t>
            </a:r>
            <a:r>
              <a:rPr lang="en-US" altLang="zh-CN" sz="1900" b="1" dirty="0">
                <a:solidFill>
                  <a:srgbClr val="000000"/>
                </a:solidFill>
                <a:latin typeface="Segoe Print" panose="02000600000000000000" charset="0"/>
                <a:ea typeface="宋体" panose="02010600030101010101" pitchFamily="2" charset="-122"/>
              </a:rPr>
              <a:t> </a:t>
            </a:r>
            <a:endParaRPr lang="en-US" altLang="zh-CN" sz="1900" b="1" dirty="0">
              <a:solidFill>
                <a:srgbClr val="000000"/>
              </a:solidFill>
              <a:latin typeface="Segoe Print" panose="02000600000000000000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5" y="1952625"/>
            <a:ext cx="6871335" cy="1244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77785" y="1952625"/>
            <a:ext cx="3820160" cy="1605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稠密开集合的可数交依旧稠密</a:t>
            </a:r>
            <a:endParaRPr lang="zh-CN" altLang="en-US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dense open set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可以理解为稀疏的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closed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的补集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如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Q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为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closed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故而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R/Q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是</a:t>
            </a:r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dense open set</a:t>
            </a:r>
            <a:endParaRPr lang="zh-CN" altLang="en-US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故而其另一种形式为</a:t>
            </a:r>
            <a:endParaRPr lang="en-US" altLang="zh-CN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  <a:p>
            <a:endParaRPr lang="en-US" altLang="zh-CN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" y="3429000"/>
            <a:ext cx="7661910" cy="7950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60" y="4674235"/>
            <a:ext cx="6210300" cy="16529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283450" y="492569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baire</a:t>
            </a:r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纲领</a:t>
            </a:r>
            <a:endParaRPr lang="zh-CN" altLang="en-US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稀疏集是第一纲的</a:t>
            </a:r>
            <a:endParaRPr lang="zh-CN" altLang="en-US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  <a:p>
            <a:r>
              <a:rPr lang="zh-CN" altLang="en-US" b="1">
                <a:solidFill>
                  <a:schemeClr val="tx1"/>
                </a:solidFill>
                <a:uFillTx/>
                <a:latin typeface="Segoe Print" panose="02000600000000000000" charset="0"/>
                <a:ea typeface="宋体" panose="02010600030101010101" pitchFamily="2" charset="-122"/>
              </a:rPr>
              <a:t>完备集合是第二纲的</a:t>
            </a:r>
            <a:endParaRPr lang="zh-CN" altLang="en-US" b="1">
              <a:solidFill>
                <a:schemeClr val="tx1"/>
              </a:solidFill>
              <a:uFillTx/>
              <a:latin typeface="Segoe Print" panose="02000600000000000000" charset="0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5747"/>
          <a:stretch>
            <a:fillRect/>
          </a:stretch>
        </p:blipFill>
        <p:spPr>
          <a:xfrm>
            <a:off x="480349" y="709414"/>
            <a:ext cx="5291023" cy="248519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0268" y="340082"/>
            <a:ext cx="372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Bs</a:t>
            </a:r>
            <a:r>
              <a:rPr lang="zh-CN" altLang="en-US" dirty="0"/>
              <a:t>定理</a:t>
            </a:r>
            <a:r>
              <a:rPr lang="en-US" altLang="zh-CN" dirty="0"/>
              <a:t>,</a:t>
            </a:r>
            <a:r>
              <a:rPr lang="zh-CN" altLang="en-US" dirty="0"/>
              <a:t>三大定理里面的第一个定理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163519" y="989635"/>
            <a:ext cx="41713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Segoe Print" panose="02000600000000000000" charset="0"/>
              </a:rPr>
              <a:t>Banach space </a:t>
            </a:r>
            <a:r>
              <a:rPr lang="zh-CN" altLang="en-US" b="1" dirty="0"/>
              <a:t>中的一族有界线性算子</a:t>
            </a:r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一族算子范数有界</a:t>
            </a:r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范数无界</a:t>
            </a:r>
            <a:endParaRPr lang="en-US" altLang="zh-CN" b="1" dirty="0"/>
          </a:p>
          <a:p>
            <a:r>
              <a:rPr lang="en-US" altLang="zh-CN" b="1" dirty="0"/>
              <a:t>Proof:</a:t>
            </a:r>
            <a:r>
              <a:rPr lang="zh-CN" altLang="en-US" b="1" dirty="0"/>
              <a:t>显然的观察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238754" y="3767559"/>
            <a:ext cx="523113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Open mapping </a:t>
            </a:r>
            <a:r>
              <a:rPr lang="en-US" altLang="zh-CN" dirty="0" err="1"/>
              <a:t>theorem:B</a:t>
            </a:r>
            <a:r>
              <a:rPr lang="en-US" altLang="zh-CN" dirty="0"/>
              <a:t>-&gt;B</a:t>
            </a:r>
            <a:r>
              <a:rPr lang="zh-CN" altLang="en-US" dirty="0"/>
              <a:t>的有界映射连续</a:t>
            </a:r>
            <a:endParaRPr lang="en-US" altLang="zh-CN" dirty="0"/>
          </a:p>
          <a:p>
            <a:r>
              <a:rPr lang="en-US" altLang="zh-CN" dirty="0"/>
              <a:t>Proof:</a:t>
            </a:r>
            <a:r>
              <a:rPr lang="zh-CN" altLang="en-US" dirty="0"/>
              <a:t>将内点映射到内点</a:t>
            </a:r>
            <a:endParaRPr lang="en-US" altLang="zh-CN" dirty="0"/>
          </a:p>
          <a:p>
            <a:r>
              <a:rPr lang="en-US" altLang="zh-CN" dirty="0"/>
              <a:t>Note:</a:t>
            </a:r>
            <a:r>
              <a:rPr lang="zh-CN" altLang="en-US" dirty="0"/>
              <a:t>本文是直接写为内点</a:t>
            </a:r>
            <a:r>
              <a:rPr lang="en-US" altLang="zh-CN" dirty="0"/>
              <a:t>-&gt;</a:t>
            </a:r>
            <a:r>
              <a:rPr lang="zh-CN" altLang="en-US" dirty="0"/>
              <a:t>内点</a:t>
            </a:r>
            <a:endParaRPr lang="zh-CN" altLang="en-US" dirty="0"/>
          </a:p>
          <a:p>
            <a:r>
              <a:rPr lang="zh-CN" altLang="en-US" dirty="0"/>
              <a:t>两个条件串起来这个证明是极为简单的</a:t>
            </a:r>
            <a:endParaRPr lang="zh-CN" altLang="en-US" dirty="0"/>
          </a:p>
          <a:p>
            <a:r>
              <a:rPr lang="en-US" altLang="zh-CN" dirty="0"/>
              <a:t>1.</a:t>
            </a:r>
            <a:r>
              <a:rPr lang="zh-CN" altLang="en-US" dirty="0"/>
              <a:t>线性有界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满射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45" y="6003749"/>
            <a:ext cx="4059347" cy="73076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9" y="3563945"/>
            <a:ext cx="5269310" cy="233862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635" y="511175"/>
            <a:ext cx="6111875" cy="14376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184390" y="79883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这个定理属于上文条件的一个推论</a:t>
            </a:r>
            <a:r>
              <a:rPr lang="en-US" altLang="zh-CN"/>
              <a:t>,</a:t>
            </a:r>
            <a:endParaRPr lang="en-US" altLang="zh-CN"/>
          </a:p>
          <a:p>
            <a:r>
              <a:rPr lang="zh-CN" altLang="en-US"/>
              <a:t>线性</a:t>
            </a:r>
            <a:endParaRPr lang="zh-CN" altLang="en-US"/>
          </a:p>
          <a:p>
            <a:r>
              <a:rPr lang="zh-CN" altLang="en-US"/>
              <a:t>一对一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自定义 1">
      <a:majorFont>
        <a:latin typeface="Segoe Print"/>
        <a:ea typeface="宋体"/>
        <a:cs typeface=""/>
      </a:majorFont>
      <a:minorFont>
        <a:latin typeface="Segoe Print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WPS 演示</Application>
  <PresentationFormat>宽屏</PresentationFormat>
  <Paragraphs>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Fd835351-Identity-H</vt:lpstr>
      <vt:lpstr>Segoe Print</vt:lpstr>
      <vt:lpstr>Wingdings</vt:lpstr>
      <vt:lpstr>Bradley Hand ITC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孟祥成</cp:lastModifiedBy>
  <cp:revision>164</cp:revision>
  <dcterms:created xsi:type="dcterms:W3CDTF">2019-06-19T02:08:00Z</dcterms:created>
  <dcterms:modified xsi:type="dcterms:W3CDTF">2026-09-11T05:59:30Z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A94B34C4C6EA487BAF01E531E4BCEB1F_11</vt:lpwstr>
  </property>
</Properties>
</file>